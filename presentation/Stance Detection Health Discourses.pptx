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TweetEval-abortion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BERTweet</c:v>
                </c:pt>
                <c:pt idx="1">
                  <c:v>SVM</c:v>
                </c:pt>
                <c:pt idx="2">
                  <c:v>Logistic Reg.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0.66100000000000003</c:v>
                </c:pt>
                <c:pt idx="1">
                  <c:v>0.51100000000000001</c:v>
                </c:pt>
                <c:pt idx="2">
                  <c:v>0.372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F-430B-88E7-DD7197F8E8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covid-vax-stance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BERTweet</c:v>
                </c:pt>
                <c:pt idx="1">
                  <c:v>SVM</c:v>
                </c:pt>
                <c:pt idx="2">
                  <c:v>Logistic Reg.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0.624</c:v>
                </c:pt>
                <c:pt idx="1">
                  <c:v>0.49299999999999999</c:v>
                </c:pt>
                <c:pt idx="2">
                  <c:v>0.39600000000000002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DF-430B-88E7-DD7197F8E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EF2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C8B90"/>
                    </a:solidFill>
                    <a:latin typeface="Calibri"/>
                  </a:defRPr>
                </a:pPr>
                <a:r>
                  <a:rPr lang="en-US" sz="1200" b="0" i="0" u="none" strike="noStrike">
                    <a:solidFill>
                      <a:srgbClr val="7C8B90"/>
                    </a:solidFill>
                    <a:latin typeface="Calibri"/>
                  </a:rPr>
                  <a:t>Macro-F1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In-domain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covid-vax-stance</c:v>
                </c:pt>
                <c:pt idx="1">
                  <c:v>TweetEval-abortion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0.624</c:v>
                </c:pt>
                <c:pt idx="1">
                  <c:v>0.66100000000000003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A-47B5-9BA0-8FD738C3BF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Cross-domain (zero-shot)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covid-vax-stance</c:v>
                </c:pt>
                <c:pt idx="1">
                  <c:v>TweetEval-abortion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0.29699999999999999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BA-47B5-9BA0-8FD738C3BF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EF2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C8B90"/>
                    </a:solidFill>
                    <a:latin typeface="Calibri"/>
                  </a:defRPr>
                </a:pPr>
                <a:r>
                  <a:rPr lang="en-US" sz="1200" b="0" i="0" u="none" strike="noStrike">
                    <a:solidFill>
                      <a:srgbClr val="7C8B90"/>
                    </a:solidFill>
                    <a:latin typeface="Calibri"/>
                  </a:rPr>
                  <a:t>BERTweet Macro-F1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48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problem: social media drives health discourse; stance detection (FAVOR/AGAINST/NONE) is the diagnostic tool. Emphasize the three difficulties — short/sarcastic text, implicit stance, and poor cross-topic generalization — which is the thread of the whole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 questions the paper answers: (1) how much does the architecture matter in-domain, and (2) does that advantage survive a topic change? The second is where the interesting failure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datasets were chosen precisely because they differ: size, text length, and direction of class imbalance. Minimal preprocessing (URLs to HTTPURL, mentions to @USER, hashtags de-hashed) and a unified label space make zero-shot transfer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families. Classical models are cheap and interpretable but bag-of-words. BERTweet brings contextual embeddings tuned for tweet grammar. The class-weighted cross-entropy is the key trick that lets the deep model not ignore minority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in-domain result. BERTweet posts the highest Macro-F1 on both datasets, with the largest gap on abortion where LR is nearly half. Contextual embeddings clearly help on short informal health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per-class story. The LR confusion matrix has an empty AntiVax column — it never predicts the minority. BERTweet, with inverse-frequency class weights, actually recovers a chunk of AntiVax. This is why aggregate Macro-F1 differs so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 into precision/recall/F1. ProVax recall is excellent; AntiVax lags on both precision and recall. The takeaway: class weighting helps but does not fully solve minority-class ambiguity at decision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on methodology: with small datasets, overfitting is a worry. The validation curves plateau by epoch 3-5, and we keep the best-validation checkpoint. The 10% warmup and weight decay support stable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negative finding. Train on one topic, test zero-shot on the other: BERTweet falls from ~0.64 to ~0.28. LR drops to 0.12. Even the strong contextual model does not transfer. This motivates the rest of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mechanism behind the collapse. The word clouds show near-zero lexical overlap between vaccine and abortion discourse. Models latch onto explicit keywords rather than learning what opposition or favor 'looks like' abstractly, so they cannot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messages. First, a simple fine-tune lands within 0.017 of the original SemEval-2016 winner, without feature engineering — modern transformers are strong out of the box. Second, the residual errors are about intent: political framing, academic tone, and sarcasm all trip up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dual message: transformers win in-domain and reach near-SOTA cheaply, but the field has not solved generalization across health topics. Point to adversarial domain adaptation and LLM-based augmentation as the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3840480" cy="3840480"/>
          </a:xfrm>
          <a:prstGeom prst="ellipse">
            <a:avLst/>
          </a:prstGeom>
          <a:solidFill>
            <a:srgbClr val="0D9488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5EEAD4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52560" y="2103120"/>
            <a:ext cx="1371600" cy="1371600"/>
          </a:xfrm>
          <a:prstGeom prst="ellipse">
            <a:avLst/>
          </a:prstGeom>
          <a:solidFill>
            <a:srgbClr val="5EEAD4">
              <a:alpha val="3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NLP  ·  STANCE DETECTION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9418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and Deep Learning</a:t>
            </a:r>
            <a:endParaRPr lang="en-US" sz="3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Approaches for Stance Detection in</a:t>
            </a:r>
            <a:endParaRPr lang="en-US" sz="3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Controversial Health Discourses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TF-IDF baselines vs. fine-tuned </a:t>
            </a:r>
            <a:r>
              <a:rPr lang="en-US" sz="15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</a:t>
            </a: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limits of cross-topic generalization.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5212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Alex-Matei Ignat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Mathematics and Informatics, University of Bucharest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24,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stance detection in health discourse?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has become a primary arena for public debate on health policy, from </a:t>
            </a:r>
            <a:r>
              <a:rPr lang="en-US" sz="16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mandates</a:t>
            </a:r>
            <a:r>
              <a:rPr lang="en-US" sz="16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6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rights</a:t>
            </a:r>
            <a:r>
              <a:rPr lang="en-US" sz="16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Automatically detecting whether a post is </a:t>
            </a:r>
            <a:r>
              <a:rPr lang="en-US" sz="16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FAVOR, AGAINST, or NONE</a:t>
            </a:r>
            <a:r>
              <a:rPr lang="en-US" sz="16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toward a target helps track misinformation, gauge policy acceptance, and map societal divides.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microblogs are hard: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48056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unstructured text: heavy on sarcasm and jargon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is often implicit, not stated outright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one topic generalize poorly to another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37960" y="1481328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12280" y="1728216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653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6642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diagnostic task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30568" y="2304288"/>
            <a:ext cx="43982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signals reveal how communities accept or resist public-health guidance in real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37960" y="3054096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812280" y="3300984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vax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4381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32369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flashpoints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30568" y="3877056"/>
            <a:ext cx="43982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study COVID-19 vaccination and abortion: highly polarized, high-stakes health debates.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37960" y="462686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812280" y="487375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50109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80974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 challenge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30568" y="5449824"/>
            <a:ext cx="43982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generalizable stance detection across distinct health domains remains unsolved.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objec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research objectives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212080" cy="4160520"/>
          </a:xfrm>
          <a:prstGeom prst="roundRect">
            <a:avLst>
              <a:gd name="adj" fmla="val 1538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4663440" y="210312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assets/ic_deep_whi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60036" y="229971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108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comparison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51560" y="370332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performance leap from classical statistical baselines, Logistic Regression and SVM over TF-IDF features, to a fine-tuned, transformer-based BERTweet model.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355080" y="1691640"/>
            <a:ext cx="5212080" cy="4160520"/>
          </a:xfrm>
          <a:prstGeom prst="roundRect">
            <a:avLst>
              <a:gd name="adj" fmla="val 1538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6656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Shape 10"/>
          <p:cNvSpPr/>
          <p:nvPr/>
        </p:nvSpPr>
        <p:spPr>
          <a:xfrm>
            <a:off x="10378440" y="2103120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assets/ic_down_whit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02468" y="2290572"/>
            <a:ext cx="265176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3108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 transferability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766560" y="370332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zero-shot transfer between two distinct domains: covid-vax-stance and </a:t>
            </a:r>
            <a:r>
              <a:rPr lang="en-US" sz="1450" dirty="0" err="1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TweetEval</a:t>
            </a:r>
            <a:r>
              <a:rPr lang="en-US" sz="14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abortion, to measure how badly domain shift breaks each model.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contrasting corpora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743200" cy="1828800"/>
          </a:xfrm>
          <a:prstGeom prst="roundRect">
            <a:avLst>
              <a:gd name="adj" fmla="val 3500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ic_vax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92224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covid-vax-stance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68680" y="2267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3,139</a:t>
            </a:r>
            <a:r>
              <a:rPr lang="en-US" sz="130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tweets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6868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182.9 chars  ·  ProVax 1364 / Neutral 1285 / AntiVax 490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0" y="1554480"/>
            <a:ext cx="2743200" cy="1828800"/>
          </a:xfrm>
          <a:prstGeom prst="roundRect">
            <a:avLst>
              <a:gd name="adj" fmla="val 3500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assets/ic_abortio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79222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4340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TweetEval abortion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886200" y="2267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</a:t>
            </a:r>
            <a:r>
              <a:rPr lang="en-US" sz="130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tweets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388620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105.4 chars  ·  against 544 / none 222 / favor 167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611880"/>
            <a:ext cx="5760720" cy="2148840"/>
          </a:xfrm>
          <a:prstGeom prst="roundRect">
            <a:avLst>
              <a:gd name="adj" fmla="val 2979"/>
            </a:avLst>
          </a:prstGeom>
          <a:solidFill>
            <a:srgbClr val="0F4C4C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68680" y="3822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contrast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2519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corpus is 3x larger with longer texts; abortion corpus is compact and short.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inverted: vaccine skews FAVOR/NONE, abortion skews AGAINST.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mapped to a shared taxonomy (FAVOR / AGAINST / NONE) to enable transfer.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13904" y="2304288"/>
            <a:ext cx="5410456" cy="2496312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label_distrib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828931"/>
            <a:ext cx="5176166" cy="1565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4820605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distribution: inverted imbalance between the two corpora.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meth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modeling paradigms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5212080" cy="4160520"/>
          </a:xfrm>
          <a:prstGeom prst="roundRect">
            <a:avLst>
              <a:gd name="adj" fmla="val 1538"/>
            </a:avLst>
          </a:prstGeom>
          <a:solidFill>
            <a:srgbClr val="F4FBFA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24128" y="2011680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_classic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220370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47088" y="20116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baselines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97280" y="2953512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sublinear, unigrams + bigrams, up to 50,000 features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linear classifier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(LinearSVC)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separation on sparse vectors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355080" y="1627632"/>
            <a:ext cx="5212080" cy="4160520"/>
          </a:xfrm>
          <a:prstGeom prst="roundRect">
            <a:avLst>
              <a:gd name="adj" fmla="val 1538"/>
            </a:avLst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739128" y="20116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_deep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22037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62088" y="20116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812280" y="2953512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  (vinai/bertweet-base)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pre-trained on 850M English tweets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recipe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10 epochs · lr 2e-5 · 10% warmup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0.01 · batch size 32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</a:t>
            </a:r>
            <a:endParaRPr lang="en-US" sz="14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weights counter imbalance (AntiVax 2.13 vs ProVax 0.77)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In-domain: BERTweet wins decisively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00200"/>
          <a:ext cx="6995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955280" y="1691640"/>
            <a:ext cx="3611880" cy="2011680"/>
          </a:xfrm>
          <a:prstGeom prst="roundRect">
            <a:avLst>
              <a:gd name="adj" fmla="val 3182"/>
            </a:avLst>
          </a:prstGeom>
          <a:solidFill>
            <a:srgbClr val="0F4C4C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22960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leap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0.661</a:t>
            </a: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abortion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8229600" y="2944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</a:t>
            </a:r>
            <a:r>
              <a:rPr lang="en-US" sz="13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vaccine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7955280" y="397764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 nearly doubles Logistic Regression on abortion (0.66 vs 0.37) and beats every classical baseline on both corpora.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per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· COVID-VAX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models collapse on minorities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cm_covid-vax-stance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51" y="1828800"/>
            <a:ext cx="3394378" cy="32552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321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- 0 true AntiVax predictions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983480" y="1627632"/>
            <a:ext cx="41605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assets/cm_bertweet_cv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171" y="1828800"/>
            <a:ext cx="3589137" cy="32552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5321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</a:t>
            </a:r>
            <a:r>
              <a:rPr lang="en-US" sz="1100" i="1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recovers the AntiVax minority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9372600" y="1627632"/>
            <a:ext cx="2194560" cy="3657600"/>
          </a:xfrm>
          <a:prstGeom prst="roundRect">
            <a:avLst>
              <a:gd name="adj" fmla="val 2917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60120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01200" y="22860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defaults entirely to majority classes, having zero correct AntiVax calls.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601200" y="37033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 lets BERTweet keep minority recall without ignoring the rare class.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per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 · COVID-VAX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behaviour, in detail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27632"/>
            <a:ext cx="61264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per_class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889" y="1856232"/>
            <a:ext cx="5212862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40880" y="1627632"/>
            <a:ext cx="4526280" cy="1325880"/>
          </a:xfrm>
          <a:prstGeom prst="roundRect">
            <a:avLst>
              <a:gd name="adj" fmla="val 4828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315200" y="1874520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assets/ic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01168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55280" y="18105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ProVax: strong recall 0.839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333488" y="2450592"/>
            <a:ext cx="3941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class is captured reliably, with the model rarely missing a pro-vaccine tweet.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040880" y="3072384"/>
            <a:ext cx="4526280" cy="1325880"/>
          </a:xfrm>
          <a:prstGeom prst="roundRect">
            <a:avLst>
              <a:gd name="adj" fmla="val 4828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7315200" y="331927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assets/ic_collap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45643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55280" y="325526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AntiVax: precision 0.632, recall 0.493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33488" y="3895344"/>
            <a:ext cx="3941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prevents total neglect, but the minority remains the weakest class.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040880" y="4517136"/>
            <a:ext cx="4526280" cy="1225296"/>
          </a:xfrm>
          <a:prstGeom prst="roundRect">
            <a:avLst>
              <a:gd name="adj" fmla="val 5224"/>
            </a:avLst>
          </a:prstGeom>
          <a:solidFill>
            <a:srgbClr val="0F4C4C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7315200" y="468172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overlap still creates ambiguity in boundary cases, weighting mitigates, but does not erase, the imbalance.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DYNAMICS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is stable, not overfit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73609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learnin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48385"/>
            <a:ext cx="6903720" cy="226414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0" y="164592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503920" y="189280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assets/ic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0299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0" y="18288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Converges early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522208" y="2468880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Macro-F1 stabilizes by epochs 3–5 on both corpora.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229600" y="3035808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8503920" y="3282696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assets/ic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4198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0" y="32186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checkpoint kept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522208" y="3858768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Peak-validation weights (0.565 / 0.750) are saved for final inference.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229600" y="4425696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503920" y="4672584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assets/ic_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80974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0" y="46085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runaway overfit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522208" y="5248656"/>
            <a:ext cx="2752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plateau rather than diverge, class weights aiding stable convergence.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 transfer collapses</a:t>
            </a:r>
            <a:endParaRPr lang="en-US" sz="2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45920"/>
          <a:ext cx="69037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691640"/>
            <a:ext cx="3703320" cy="1874520"/>
          </a:xfrm>
          <a:prstGeom prst="roundRect">
            <a:avLst>
              <a:gd name="adj" fmla="val 3415"/>
            </a:avLst>
          </a:prstGeom>
          <a:solidFill>
            <a:srgbClr val="0F4C4C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138160" y="1901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BERTweet, out of domain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3816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r>
              <a:rPr lang="en-US" sz="240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813816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~0.35 Macro-F1 drop from in-domain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863840" y="3749040"/>
            <a:ext cx="3703320" cy="1874520"/>
          </a:xfrm>
          <a:prstGeom prst="roundRect">
            <a:avLst>
              <a:gd name="adj" fmla="val 3415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138160" y="3950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models fare even worse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138160" y="43708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0.119</a:t>
            </a: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 Regression, transferred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8138160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degradation across every model when the topic changes.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vo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 A vocabulary disconnect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572768"/>
            <a:ext cx="1092708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wordcloud_covid_vax_s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948" y="1737360"/>
            <a:ext cx="5253343" cy="1426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3456432"/>
            <a:ext cx="1092708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EEC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assets/wordcloud_tweeteval_stance_abor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447" y="3621024"/>
            <a:ext cx="5250346" cy="142646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0080" y="5413248"/>
            <a:ext cx="10927080" cy="868680"/>
          </a:xfrm>
          <a:prstGeom prst="roundRect">
            <a:avLst>
              <a:gd name="adj" fmla="val 7368"/>
            </a:avLst>
          </a:prstGeom>
          <a:solidFill>
            <a:srgbClr val="0F4C4C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14400" y="5413248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anchors don't overlap:  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“pfizer, dose, mask”</a:t>
            </a:r>
            <a:r>
              <a:rPr lang="en-US" sz="1350" dirty="0">
                <a:solidFill>
                  <a:srgbClr val="A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vs.  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“life, women, murder.”</a:t>
            </a:r>
            <a:r>
              <a:rPr lang="en-US" sz="13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 err="1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</a:t>
            </a:r>
            <a:r>
              <a:rPr lang="en-US" sz="135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overfits its training lexicon: it never learns abstract, domain-invariant markers of opposition or support.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85216" cy="585216"/>
          </a:xfrm>
          <a:prstGeom prst="ellipse">
            <a:avLst/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_so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626364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QUALITATIVE ANALYSIS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17320" y="6492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Near-SOTA, with telling errors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4160520" cy="4114800"/>
          </a:xfrm>
          <a:prstGeom prst="roundRect">
            <a:avLst>
              <a:gd name="adj" fmla="val 1556"/>
            </a:avLst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SemEval-2016 best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0.6615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BERTweet fine-tune (abortion)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0.6782</a:t>
            </a:r>
            <a:r>
              <a:rPr lang="en-US" sz="125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first-place submission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914400" y="461772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4617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0.0167  </a:t>
            </a: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SOTA, with no hand-engineered features.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74920" y="1645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BERTweet still slips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74920" y="2148840"/>
            <a:ext cx="6492240" cy="1078992"/>
          </a:xfrm>
          <a:prstGeom prst="roundRect">
            <a:avLst>
              <a:gd name="adj" fmla="val 5085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76088" y="2331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080760" y="229514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grievance ≠ medical opinion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080760" y="266090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Anti-vaccine sentiment hidden inside political attacks is read as Neutral.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74920" y="3374136"/>
            <a:ext cx="6492240" cy="1078992"/>
          </a:xfrm>
          <a:prstGeom prst="roundRect">
            <a:avLst>
              <a:gd name="adj" fmla="val 5085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76088" y="35570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080760" y="3520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/ academic phrasing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080760" y="388620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clinical wording gets misread as Neutral, while the model expects emotive language.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74920" y="4599432"/>
            <a:ext cx="6492240" cy="1078992"/>
          </a:xfrm>
          <a:prstGeom prst="roundRect">
            <a:avLst>
              <a:gd name="adj" fmla="val 5085"/>
            </a:avLst>
          </a:prstGeom>
          <a:solidFill>
            <a:srgbClr val="EAF7F5"/>
          </a:solidFill>
          <a:ln w="12700">
            <a:solidFill>
              <a:srgbClr val="DCEEEB"/>
            </a:solidFill>
            <a:prstDash val="solid"/>
          </a:ln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76088" y="478231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080760" y="474573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sarcasm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080760" y="511149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Cynical mockery with charged keywords is flagged </a:t>
            </a:r>
            <a:r>
              <a:rPr lang="en-US" sz="1250" dirty="0" err="1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AntiVax</a:t>
            </a:r>
            <a:r>
              <a:rPr lang="en-US" sz="1250" dirty="0">
                <a:solidFill>
                  <a:srgbClr val="334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when in reality it is neutral commentary.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Detection in Controversial Health Discourses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0" y="6455664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931920" cy="3931920"/>
          </a:xfrm>
          <a:prstGeom prst="ellipse">
            <a:avLst/>
          </a:prstGeom>
          <a:solidFill>
            <a:srgbClr val="0D9488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ellipse">
            <a:avLst/>
          </a:prstGeom>
          <a:solidFill>
            <a:srgbClr val="5EEAD4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1005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in-domain, fragile across domains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12605C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441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175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BERTweet decisively beats classical baselines in-domain and matches SemEval SOTA without feature engineering.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cross-domain transfer collapses to 0.27–0.30 Macro-F1.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deep lexical dependency, models lean on keywords, not abstract stance markers.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14884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0D9488"/>
          </a:solidFill>
          <a:ln/>
          <a:effectLst>
            <a:outerShdw blurRad="114300" dist="38100" dir="5400000" algn="bl" rotWithShape="0">
              <a:srgbClr val="0F4C4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0" y="2423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assets/ic_bulb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569464"/>
            <a:ext cx="256032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0" y="24231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0" y="32004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domain adaptation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model to learn domain-invariant features.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data augmentation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A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bridging data that normalizes lexicon across distinct health controversies.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Alex-Matei Ignat  ·  Faculty of Mathematics and Informatics ·  University of Bucharest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1501</Words>
  <Application>Microsoft Office PowerPoint</Application>
  <PresentationFormat>Widescreen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Stance Detection in Controversial Health Discourses</dc:title>
  <dc:subject>PptxGenJS Presentation</dc:subject>
  <dc:creator>Alex-Matei Ignat</dc:creator>
  <cp:lastModifiedBy>Alex-Matei Ignat</cp:lastModifiedBy>
  <cp:revision>25</cp:revision>
  <dcterms:created xsi:type="dcterms:W3CDTF">2026-06-23T17:10:07Z</dcterms:created>
  <dcterms:modified xsi:type="dcterms:W3CDTF">2026-06-23T17:29:13Z</dcterms:modified>
</cp:coreProperties>
</file>